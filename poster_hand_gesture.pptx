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0267275" cy="42794238"/>
  <p:notesSz cx="7004050" cy="9290050"/>
  <p:defaultTextStyle>
    <a:defPPr>
      <a:defRPr lang="en-US"/>
    </a:defPPr>
    <a:lvl1pPr marL="0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7278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74556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61834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49113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36390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523668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610946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698224" algn="l" defTabSz="417455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60" autoAdjust="0"/>
    <p:restoredTop sz="94676" autoAdjust="0"/>
  </p:normalViewPr>
  <p:slideViewPr>
    <p:cSldViewPr>
      <p:cViewPr varScale="1">
        <p:scale>
          <a:sx n="18" d="100"/>
          <a:sy n="18" d="100"/>
        </p:scale>
        <p:origin x="3714" y="180"/>
      </p:cViewPr>
      <p:guideLst>
        <p:guide orient="horz" pos="13479"/>
        <p:guide pos="95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29426517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30267275" cy="534927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37444959"/>
            <a:ext cx="30267275" cy="53492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9" name="Instructions"/>
          <p:cNvSpPr/>
          <p:nvPr userDrawn="1"/>
        </p:nvSpPr>
        <p:spPr>
          <a:xfrm>
            <a:off x="-12611365" y="0"/>
            <a:ext cx="11770607" cy="427942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7425" tIns="217425" rIns="217425" bIns="217425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88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set up for A0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international paper size of 1189 mm x 841 mm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(46.8” high by 33.1” wide). It can be printed at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70.6% for an A1 poster of 841 mm x 594 mm.</a:t>
            </a:r>
            <a:endParaRPr lang="en-US" sz="60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88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2282"/>
              </a:spcAft>
            </a:pPr>
            <a:b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08033" y="0"/>
            <a:ext cx="11770607" cy="42794238"/>
            <a:chOff x="33832800" y="0"/>
            <a:chExt cx="12801600" cy="43891200"/>
          </a:xfrm>
        </p:grpSpPr>
        <p:sp>
          <p:nvSpPr>
            <p:cNvPr id="13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88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88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delivery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International: +(1) 913-441-1410</a:t>
              </a:r>
              <a:b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8425085"/>
              <a:ext cx="11904515" cy="10246926"/>
            </a:xfrm>
            <a:prstGeom prst="rect">
              <a:avLst/>
            </a:prstGeom>
          </p:spPr>
        </p:pic>
      </p:grp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1037" y="42504519"/>
            <a:ext cx="5297435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944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665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3364" y="1713754"/>
            <a:ext cx="27240548" cy="7132373"/>
          </a:xfrm>
          <a:prstGeom prst="rect">
            <a:avLst/>
          </a:prstGeom>
        </p:spPr>
        <p:txBody>
          <a:bodyPr vert="horz" lIns="417456" tIns="208727" rIns="417456" bIns="208727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4" y="9985326"/>
            <a:ext cx="27240548" cy="28242219"/>
          </a:xfrm>
          <a:prstGeom prst="rect">
            <a:avLst/>
          </a:prstGeom>
        </p:spPr>
        <p:txBody>
          <a:bodyPr vert="horz" lIns="417456" tIns="208727" rIns="417456" bIns="208727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3364" y="39663922"/>
            <a:ext cx="7062364" cy="2278397"/>
          </a:xfrm>
          <a:prstGeom prst="rect">
            <a:avLst/>
          </a:prstGeom>
        </p:spPr>
        <p:txBody>
          <a:bodyPr vert="horz" lIns="417456" tIns="208727" rIns="417456" bIns="208727" rtlCol="0" anchor="ctr"/>
          <a:lstStyle>
            <a:lvl1pPr algn="l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1319" y="39663922"/>
            <a:ext cx="9584637" cy="2278397"/>
          </a:xfrm>
          <a:prstGeom prst="rect">
            <a:avLst/>
          </a:prstGeom>
        </p:spPr>
        <p:txBody>
          <a:bodyPr vert="horz" lIns="417456" tIns="208727" rIns="417456" bIns="208727" rtlCol="0" anchor="ctr"/>
          <a:lstStyle>
            <a:lvl1pPr algn="ct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1547" y="39663922"/>
            <a:ext cx="7062364" cy="2278397"/>
          </a:xfrm>
          <a:prstGeom prst="rect">
            <a:avLst/>
          </a:prstGeom>
        </p:spPr>
        <p:txBody>
          <a:bodyPr vert="horz" lIns="417456" tIns="208727" rIns="417456" bIns="208727" rtlCol="0" anchor="ctr"/>
          <a:lstStyle>
            <a:lvl1pPr algn="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22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ctr" defTabSz="4174556" rtl="0" eaLnBrk="1" latinLnBrk="0" hangingPunct="1">
        <a:spcBef>
          <a:spcPct val="0"/>
        </a:spcBef>
        <a:buNone/>
        <a:defRPr sz="7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4850" indent="-434850" algn="l" defTabSz="4174556" rtl="0" eaLnBrk="1" latinLnBrk="0" hangingPunct="1">
        <a:spcBef>
          <a:spcPct val="20000"/>
        </a:spcBef>
        <a:buFont typeface="Arial" pitchFamily="34" charset="0"/>
        <a:buChar char="•"/>
        <a:defRPr sz="3400" kern="1200">
          <a:solidFill>
            <a:schemeClr val="tx1"/>
          </a:solidFill>
          <a:latin typeface="+mn-lt"/>
          <a:ea typeface="+mn-ea"/>
          <a:cs typeface="+mn-cs"/>
        </a:defRPr>
      </a:lvl1pPr>
      <a:lvl2pPr marL="869699" indent="-434850" algn="l" defTabSz="4174556" rtl="0" eaLnBrk="1" latinLnBrk="0" hangingPunct="1">
        <a:spcBef>
          <a:spcPct val="20000"/>
        </a:spcBef>
        <a:buFont typeface="Arial" pitchFamily="34" charset="0"/>
        <a:buChar char="–"/>
        <a:defRPr sz="3400" kern="1200">
          <a:solidFill>
            <a:schemeClr val="tx1"/>
          </a:solidFill>
          <a:latin typeface="+mn-lt"/>
          <a:ea typeface="+mn-ea"/>
          <a:cs typeface="+mn-cs"/>
        </a:defRPr>
      </a:lvl2pPr>
      <a:lvl3pPr marL="1304549" indent="-434850" algn="l" defTabSz="4174556" rtl="0" eaLnBrk="1" latinLnBrk="0" hangingPunct="1">
        <a:spcBef>
          <a:spcPct val="20000"/>
        </a:spcBef>
        <a:buFont typeface="Arial" pitchFamily="34" charset="0"/>
        <a:buChar char="•"/>
        <a:defRPr sz="3400" kern="1200">
          <a:solidFill>
            <a:schemeClr val="tx1"/>
          </a:solidFill>
          <a:latin typeface="+mn-lt"/>
          <a:ea typeface="+mn-ea"/>
          <a:cs typeface="+mn-cs"/>
        </a:defRPr>
      </a:lvl3pPr>
      <a:lvl4pPr marL="1739398" indent="-434850" algn="l" defTabSz="4174556" rtl="0" eaLnBrk="1" latinLnBrk="0" hangingPunct="1">
        <a:spcBef>
          <a:spcPct val="20000"/>
        </a:spcBef>
        <a:buFont typeface="Arial" pitchFamily="34" charset="0"/>
        <a:buChar char="–"/>
        <a:defRPr sz="3400" kern="1200">
          <a:solidFill>
            <a:schemeClr val="tx1"/>
          </a:solidFill>
          <a:latin typeface="+mn-lt"/>
          <a:ea typeface="+mn-ea"/>
          <a:cs typeface="+mn-cs"/>
        </a:defRPr>
      </a:lvl4pPr>
      <a:lvl5pPr marL="2174248" indent="-434850" algn="l" defTabSz="4174556" rtl="0" eaLnBrk="1" latinLnBrk="0" hangingPunct="1">
        <a:spcBef>
          <a:spcPct val="20000"/>
        </a:spcBef>
        <a:buFont typeface="Arial" pitchFamily="34" charset="0"/>
        <a:buChar char="»"/>
        <a:defRPr sz="3400" kern="1200">
          <a:solidFill>
            <a:schemeClr val="tx1"/>
          </a:solidFill>
          <a:latin typeface="+mn-lt"/>
          <a:ea typeface="+mn-ea"/>
          <a:cs typeface="+mn-cs"/>
        </a:defRPr>
      </a:lvl5pPr>
      <a:lvl6pPr marL="11480029" indent="-1043639" algn="l" defTabSz="4174556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6pPr>
      <a:lvl7pPr marL="13567307" indent="-1043639" algn="l" defTabSz="4174556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7pPr>
      <a:lvl8pPr marL="15654585" indent="-1043639" algn="l" defTabSz="4174556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8pPr>
      <a:lvl9pPr marL="17741863" indent="-1043639" algn="l" defTabSz="4174556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7278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74556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61834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49113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36390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523668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610946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698224" algn="l" defTabSz="4174556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hyperlink" Target="https://www.tensorflow.org/lite/performance/post_training_quantization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4265005" y="232710"/>
            <a:ext cx="22340284" cy="32172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73940" tIns="434850" rIns="173940" bIns="434850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7600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Efficient and Customizable Dynamic Hand Gesture Recognition for Edge Deployment</a:t>
            </a:r>
          </a:p>
        </p:txBody>
      </p:sp>
      <p:sp>
        <p:nvSpPr>
          <p:cNvPr id="5" name="Text Box 123"/>
          <p:cNvSpPr txBox="1">
            <a:spLocks noChangeArrowheads="1"/>
          </p:cNvSpPr>
          <p:nvPr/>
        </p:nvSpPr>
        <p:spPr bwMode="auto">
          <a:xfrm>
            <a:off x="4570801" y="3120414"/>
            <a:ext cx="21117102" cy="22288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73940" tIns="173940" rIns="173940" bIns="173940" anchor="ctr" anchorCtr="0"/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46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Victor </a:t>
            </a:r>
            <a:r>
              <a:rPr lang="en-US" sz="4600" dirty="0" err="1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Teslaru</a:t>
            </a:r>
            <a:r>
              <a:rPr lang="en-US" sz="46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; Gabriel </a:t>
            </a:r>
            <a:r>
              <a:rPr lang="en-US" sz="4600" dirty="0" err="1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Pojoga</a:t>
            </a:r>
            <a:endParaRPr lang="en-US" sz="4600" baseline="30000" dirty="0">
              <a:solidFill>
                <a:schemeClr val="accent3">
                  <a:lumMod val="20000"/>
                  <a:lumOff val="80000"/>
                </a:schemeClr>
              </a:solidFill>
              <a:latin typeface="+mn-lt"/>
            </a:endParaRPr>
          </a:p>
          <a:p>
            <a:pPr algn="ctr" eaLnBrk="1" hangingPunct="1"/>
            <a:r>
              <a:rPr lang="en-US" sz="46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“Gheorghe </a:t>
            </a:r>
            <a:r>
              <a:rPr lang="en-US" sz="4600" dirty="0" err="1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Asachi</a:t>
            </a:r>
            <a:r>
              <a:rPr lang="en-US" sz="46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” Technical University of Iasi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7422" y="38926169"/>
            <a:ext cx="7314260" cy="23961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3000" dirty="0"/>
              <a:t>Victor </a:t>
            </a:r>
            <a:r>
              <a:rPr lang="en-US" sz="3000" dirty="0" err="1"/>
              <a:t>Teslaru</a:t>
            </a:r>
            <a:endParaRPr lang="en-US" sz="3000" dirty="0"/>
          </a:p>
          <a:p>
            <a:r>
              <a:rPr lang="en-US" sz="3000" dirty="0"/>
              <a:t>Gabriel </a:t>
            </a:r>
            <a:r>
              <a:rPr lang="en-US" sz="3000" dirty="0" err="1"/>
              <a:t>Pojoga</a:t>
            </a:r>
            <a:endParaRPr lang="en-US" sz="3000" dirty="0"/>
          </a:p>
          <a:p>
            <a:r>
              <a:rPr lang="en-US" sz="3000" dirty="0"/>
              <a:t>“Gheorghe </a:t>
            </a:r>
            <a:r>
              <a:rPr lang="en-US" sz="3000" dirty="0" err="1"/>
              <a:t>Asachi</a:t>
            </a:r>
            <a:r>
              <a:rPr lang="en-US" sz="3000" dirty="0"/>
              <a:t>” Technical University of Iasi</a:t>
            </a:r>
          </a:p>
          <a:p>
            <a:r>
              <a:rPr lang="en-US" sz="3000" dirty="0"/>
              <a:t>Email:   victor.teslaru@student.tuiasi.ro</a:t>
            </a:r>
          </a:p>
          <a:p>
            <a:r>
              <a:rPr lang="en-US" sz="3000" dirty="0"/>
              <a:t>            gabriel.pojoga@student.tuiasi.ro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7422" y="37793303"/>
            <a:ext cx="2385859" cy="918816"/>
          </a:xfrm>
          <a:prstGeom prst="rect">
            <a:avLst/>
          </a:prstGeom>
          <a:noFill/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5400" b="1" dirty="0"/>
              <a:t>Contact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49923" y="38712119"/>
            <a:ext cx="13452122" cy="2852949"/>
          </a:xfrm>
          <a:prstGeom prst="rect">
            <a:avLst/>
          </a:prstGeom>
          <a:noFill/>
        </p:spPr>
        <p:txBody>
          <a:bodyPr wrap="square" lIns="86970" tIns="86970" rIns="86970" bIns="86970" numCol="1" spcCol="434850" rtlCol="0">
            <a:noAutofit/>
          </a:bodyPr>
          <a:lstStyle/>
          <a:p>
            <a:pPr marL="434850" indent="-434850">
              <a:buFont typeface="+mj-lt"/>
              <a:buAutoNum type="arabicPeriod"/>
            </a:pPr>
            <a:r>
              <a:rPr lang="en-US" sz="2400" dirty="0"/>
              <a:t>H. </a:t>
            </a:r>
            <a:r>
              <a:rPr lang="en-US" sz="2400" dirty="0" err="1"/>
              <a:t>Sakoe</a:t>
            </a:r>
            <a:r>
              <a:rPr lang="en-US" sz="2400" dirty="0"/>
              <a:t> and S. Chiba, "Dynamic programming algorithm optimization for spoken word recognition," in IEEE Transactions on Acoustics, Speech, and Signal Processing, vol. 26, no. 1, pp. 43-49, February 1978, </a:t>
            </a:r>
            <a:r>
              <a:rPr lang="en-US" sz="2400" dirty="0" err="1"/>
              <a:t>doi</a:t>
            </a:r>
            <a:r>
              <a:rPr lang="en-US" sz="2400" dirty="0"/>
              <a:t>: 10.1109/TASSP.1978.1163055.</a:t>
            </a:r>
          </a:p>
          <a:p>
            <a:pPr marL="434850" indent="-434850">
              <a:buFont typeface="+mj-lt"/>
              <a:buAutoNum type="arabicPeriod"/>
            </a:pPr>
            <a:r>
              <a:rPr lang="en-US" sz="2400" dirty="0" err="1"/>
              <a:t>Tumuganti</a:t>
            </a:r>
            <a:r>
              <a:rPr lang="en-US" sz="2400" dirty="0"/>
              <a:t>, </a:t>
            </a:r>
            <a:r>
              <a:rPr lang="en-US" sz="2400" dirty="0" err="1"/>
              <a:t>Nagakarthik</a:t>
            </a:r>
            <a:r>
              <a:rPr lang="en-US" sz="2400" dirty="0"/>
              <a:t> &amp; Ahn, Eun &amp; Bae, Yun &amp; Choi, Jun. (2013). TCAM based pattern matching technique for hand gesture recognition. 368-369. 10.1109/ISOCC.2013.6864052. </a:t>
            </a:r>
          </a:p>
          <a:p>
            <a:pPr marL="434850" indent="-434850">
              <a:buFont typeface="+mj-lt"/>
              <a:buAutoNum type="arabicPeriod"/>
            </a:pPr>
            <a:r>
              <a:rPr lang="en-US" sz="2400" dirty="0"/>
              <a:t>Zhang, F., </a:t>
            </a:r>
            <a:r>
              <a:rPr lang="en-US" sz="2400" dirty="0" err="1"/>
              <a:t>Bazarevsky</a:t>
            </a:r>
            <a:r>
              <a:rPr lang="en-US" sz="2400" dirty="0"/>
              <a:t>, V., </a:t>
            </a:r>
            <a:r>
              <a:rPr lang="en-US" sz="2400" dirty="0" err="1"/>
              <a:t>Vakunov</a:t>
            </a:r>
            <a:r>
              <a:rPr lang="en-US" sz="2400" dirty="0"/>
              <a:t>, A., </a:t>
            </a:r>
            <a:r>
              <a:rPr lang="en-US" sz="2400" dirty="0" err="1"/>
              <a:t>Tkachenka</a:t>
            </a:r>
            <a:r>
              <a:rPr lang="en-US" sz="2400" dirty="0"/>
              <a:t>, A., Sung, G., Chang, C. L., &amp; Grundmann, M. (2020). </a:t>
            </a:r>
            <a:r>
              <a:rPr lang="en-US" sz="2400" dirty="0" err="1"/>
              <a:t>Mediapipe</a:t>
            </a:r>
            <a:r>
              <a:rPr lang="en-US" sz="2400" dirty="0"/>
              <a:t> hands: On-device real-time hand tracking. </a:t>
            </a:r>
            <a:r>
              <a:rPr lang="en-US" sz="2400" dirty="0" err="1"/>
              <a:t>arXiv</a:t>
            </a:r>
            <a:r>
              <a:rPr lang="en-US" sz="2400" dirty="0"/>
              <a:t> preprint arXiv:2006.10214.</a:t>
            </a:r>
          </a:p>
          <a:p>
            <a:pPr marL="434850" indent="-434850">
              <a:buFont typeface="+mj-lt"/>
              <a:buAutoNum type="arabicPeriod"/>
            </a:pPr>
            <a:r>
              <a:rPr lang="en-US" sz="2400" dirty="0"/>
              <a:t>TensorFlow Team. "Post-training quantization," TensorFlow Lite Documentation, 2023. </a:t>
            </a:r>
            <a:r>
              <a:rPr lang="en-US" sz="2400" dirty="0">
                <a:hlinkClick r:id="rId2"/>
              </a:rPr>
              <a:t>https://www.tensorflow.org/lite/performance/post_training_quantization</a:t>
            </a:r>
            <a:endParaRPr lang="en-US" sz="2400" dirty="0"/>
          </a:p>
          <a:p>
            <a:pPr marL="434850" indent="-434850">
              <a:buFont typeface="+mj-lt"/>
              <a:buAutoNum type="arabicPeriod"/>
            </a:pPr>
            <a:endParaRPr lang="en-US" sz="2400" dirty="0"/>
          </a:p>
          <a:p>
            <a:pPr marL="434850" indent="-4348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27" name="TextBox 26"/>
          <p:cNvSpPr txBox="1"/>
          <p:nvPr/>
        </p:nvSpPr>
        <p:spPr>
          <a:xfrm>
            <a:off x="15149924" y="37767161"/>
            <a:ext cx="3325668" cy="918816"/>
          </a:xfrm>
          <a:prstGeom prst="rect">
            <a:avLst/>
          </a:prstGeom>
          <a:noFill/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5400" b="1" dirty="0"/>
              <a:t>References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55E9C25-1CF2-37B1-78D0-428B52416806}"/>
              </a:ext>
            </a:extLst>
          </p:cNvPr>
          <p:cNvGrpSpPr/>
          <p:nvPr/>
        </p:nvGrpSpPr>
        <p:grpSpPr>
          <a:xfrm>
            <a:off x="1693590" y="7570491"/>
            <a:ext cx="8407576" cy="7429133"/>
            <a:chOff x="1665205" y="6029900"/>
            <a:chExt cx="8407576" cy="7429133"/>
          </a:xfrm>
        </p:grpSpPr>
        <p:sp>
          <p:nvSpPr>
            <p:cNvPr id="10" name="Text Box 189"/>
            <p:cNvSpPr txBox="1">
              <a:spLocks noChangeArrowheads="1"/>
            </p:cNvSpPr>
            <p:nvPr/>
          </p:nvSpPr>
          <p:spPr bwMode="auto">
            <a:xfrm>
              <a:off x="1665205" y="6921447"/>
              <a:ext cx="8407576" cy="653758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3600" b="1" dirty="0">
                  <a:latin typeface="Calibri" pitchFamily="34" charset="0"/>
                </a:rPr>
                <a:t>Challenges: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Real-time performance on resource-constrained devices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Domain-specific vocabularies need custom datasets, no universal solution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Ambiguous user intent from natural movement hard to capture in the collection phase</a:t>
              </a:r>
            </a:p>
            <a:p>
              <a:pPr eaLnBrk="1" hangingPunct="1"/>
              <a:endParaRPr lang="en-US" sz="3000" dirty="0">
                <a:latin typeface="Calibri" pitchFamily="34" charset="0"/>
              </a:endParaRPr>
            </a:p>
            <a:p>
              <a:pPr eaLnBrk="1" hangingPunct="1"/>
              <a:r>
                <a:rPr lang="en-US" sz="3600" b="1" dirty="0">
                  <a:latin typeface="Calibri" pitchFamily="34" charset="0"/>
                </a:rPr>
                <a:t>Our solution: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Hierarchical pipeline (palm → landmarks → gesture) 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Active learning, guides data collection to fix weaknesses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665205" y="6029900"/>
              <a:ext cx="8407576" cy="8915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1. Problem &amp; Scope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29EFCBA-98F0-F6BE-B48F-27851746D125}"/>
              </a:ext>
            </a:extLst>
          </p:cNvPr>
          <p:cNvGrpSpPr/>
          <p:nvPr/>
        </p:nvGrpSpPr>
        <p:grpSpPr>
          <a:xfrm>
            <a:off x="1693590" y="23599535"/>
            <a:ext cx="8407576" cy="5057977"/>
            <a:chOff x="1700284" y="26497684"/>
            <a:chExt cx="8908089" cy="5028474"/>
          </a:xfrm>
        </p:grpSpPr>
        <p:sp>
          <p:nvSpPr>
            <p:cNvPr id="13" name="Text Box 192"/>
            <p:cNvSpPr txBox="1">
              <a:spLocks noChangeArrowheads="1"/>
            </p:cNvSpPr>
            <p:nvPr/>
          </p:nvSpPr>
          <p:spPr bwMode="auto">
            <a:xfrm>
              <a:off x="1700284" y="27389229"/>
              <a:ext cx="8908089" cy="41369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3600" b="1" dirty="0">
                  <a:latin typeface="Calibri" pitchFamily="34" charset="0"/>
                </a:rPr>
                <a:t>Sliding window continuous inference: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Capture 10-20 frame sequences (user-paced)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Extract up to 7 overlapping inverse sliding windows, prioritizing recency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Classify each window independently using uncertainty thresholding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Filter out ambiguities through majority voting across valid predictions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700284" y="26497684"/>
              <a:ext cx="8908089" cy="8915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4. Deployment &amp; Inference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4B66C5F-D4B1-FBC5-79EF-CC77D170D037}"/>
              </a:ext>
            </a:extLst>
          </p:cNvPr>
          <p:cNvGrpSpPr/>
          <p:nvPr/>
        </p:nvGrpSpPr>
        <p:grpSpPr>
          <a:xfrm>
            <a:off x="1693590" y="30237116"/>
            <a:ext cx="8407576" cy="4876396"/>
            <a:chOff x="10991834" y="31531719"/>
            <a:chExt cx="8407576" cy="4876396"/>
          </a:xfrm>
        </p:grpSpPr>
        <p:sp>
          <p:nvSpPr>
            <p:cNvPr id="14" name="Text Box 193"/>
            <p:cNvSpPr txBox="1">
              <a:spLocks noChangeArrowheads="1"/>
            </p:cNvSpPr>
            <p:nvPr/>
          </p:nvSpPr>
          <p:spPr bwMode="auto">
            <a:xfrm>
              <a:off x="10991834" y="32363519"/>
              <a:ext cx="8407576" cy="404459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Benchmark: 73 gestures with various poses and sliding windows length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Baseline struggles with unknown class based only on thresholding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Active learning helps the model better define decision boundaries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Unknown gesture recall: 20% → 95% (4.75× improvement)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0991834" y="31531719"/>
              <a:ext cx="8407576" cy="8915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6. Evaluation metrics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5BBAE78-0C75-5740-730E-BAB3C7FE2AB7}"/>
              </a:ext>
            </a:extLst>
          </p:cNvPr>
          <p:cNvGrpSpPr/>
          <p:nvPr/>
        </p:nvGrpSpPr>
        <p:grpSpPr>
          <a:xfrm>
            <a:off x="20379215" y="7546236"/>
            <a:ext cx="8407576" cy="7433102"/>
            <a:chOff x="10925564" y="5644318"/>
            <a:chExt cx="8407576" cy="7433102"/>
          </a:xfrm>
        </p:grpSpPr>
        <p:sp>
          <p:nvSpPr>
            <p:cNvPr id="33" name="Rectangle 32"/>
            <p:cNvSpPr/>
            <p:nvPr/>
          </p:nvSpPr>
          <p:spPr>
            <a:xfrm>
              <a:off x="10925564" y="5644318"/>
              <a:ext cx="8407576" cy="8915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2. Data Pipeline &amp; Dataset</a:t>
              </a:r>
            </a:p>
          </p:txBody>
        </p:sp>
        <p:sp>
          <p:nvSpPr>
            <p:cNvPr id="11" name="Text Box 190"/>
            <p:cNvSpPr txBox="1">
              <a:spLocks noChangeArrowheads="1"/>
            </p:cNvSpPr>
            <p:nvPr/>
          </p:nvSpPr>
          <p:spPr bwMode="auto">
            <a:xfrm>
              <a:off x="10925564" y="6539834"/>
              <a:ext cx="8407576" cy="653758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3600" b="1" dirty="0">
                  <a:latin typeface="+mn-lt"/>
                </a:rPr>
                <a:t>Collection:</a:t>
              </a:r>
              <a:endParaRPr lang="en-US" sz="3000" dirty="0">
                <a:latin typeface="+mn-lt"/>
              </a:endParaRP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+mn-lt"/>
                </a:rPr>
                <a:t>Dynamic Time Warping [1] similarity to prevent redundancy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+mn-lt"/>
                </a:rPr>
                <a:t>Interactive pose rotation augmentation with user validation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+mn-lt"/>
                </a:rPr>
                <a:t>Linear interpolation for ≤2 missing frames, discard otherwise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endParaRPr lang="en-US" sz="3000" dirty="0">
                <a:latin typeface="+mn-lt"/>
              </a:endParaRPr>
            </a:p>
            <a:p>
              <a:pPr eaLnBrk="1" hangingPunct="1"/>
              <a:r>
                <a:rPr lang="en-US" sz="3600" b="1" dirty="0">
                  <a:latin typeface="+mn-lt"/>
                </a:rPr>
                <a:t>Dataset: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+mn-lt"/>
                </a:rPr>
                <a:t>8 gestures: Swipe (4), Zoom (2), Rotate (2)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+mn-lt"/>
                </a:rPr>
                <a:t>10-frame sequences, 21 3D landmarks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+mn-lt"/>
                </a:rPr>
                <a:t>Wrist and hand span normalized (position/scale-invariant)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EC84CB7-9C71-42D6-9AC8-3FBD31EE6A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868" y="1275735"/>
            <a:ext cx="3161342" cy="31613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2871D5-C843-4090-8B29-A0D34C37D8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11085" y="1190100"/>
            <a:ext cx="2482796" cy="3332612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36BFE15A-E935-9F8E-C7B2-50467D10AA72}"/>
              </a:ext>
            </a:extLst>
          </p:cNvPr>
          <p:cNvGrpSpPr/>
          <p:nvPr/>
        </p:nvGrpSpPr>
        <p:grpSpPr>
          <a:xfrm>
            <a:off x="1639504" y="16687614"/>
            <a:ext cx="8407577" cy="5284503"/>
            <a:chOff x="1700284" y="14958883"/>
            <a:chExt cx="8407577" cy="5284503"/>
          </a:xfrm>
        </p:grpSpPr>
        <p:sp>
          <p:nvSpPr>
            <p:cNvPr id="15" name="Text Box 194"/>
            <p:cNvSpPr txBox="1">
              <a:spLocks noChangeArrowheads="1"/>
            </p:cNvSpPr>
            <p:nvPr/>
          </p:nvSpPr>
          <p:spPr bwMode="auto">
            <a:xfrm>
              <a:off x="1700284" y="16568122"/>
              <a:ext cx="8407576" cy="367526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3600" b="1" dirty="0">
                  <a:latin typeface="Calibri" pitchFamily="34" charset="0"/>
                </a:rPr>
                <a:t>Hierarchical architecture: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SSD-based palm detector [3], which reduces search space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21 key-points extraction for structured representation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NPU offloading for vision tasks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Quantized 1D CNN for temporal modelling [4]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6E39D06-1522-457C-8E92-A2D123F7B247}"/>
                </a:ext>
              </a:extLst>
            </p:cNvPr>
            <p:cNvSpPr/>
            <p:nvPr/>
          </p:nvSpPr>
          <p:spPr>
            <a:xfrm>
              <a:off x="1700285" y="14958883"/>
              <a:ext cx="8407576" cy="160717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3. Model Design &amp; </a:t>
              </a:r>
            </a:p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Edge Optimization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6A143F0C-79A2-3CC6-0D27-4BD179F4DCD3}"/>
              </a:ext>
            </a:extLst>
          </p:cNvPr>
          <p:cNvGrpSpPr/>
          <p:nvPr/>
        </p:nvGrpSpPr>
        <p:grpSpPr>
          <a:xfrm>
            <a:off x="21820653" y="21199363"/>
            <a:ext cx="6966138" cy="7478961"/>
            <a:chOff x="10991834" y="26266071"/>
            <a:chExt cx="8407576" cy="7083117"/>
          </a:xfrm>
        </p:grpSpPr>
        <p:sp>
          <p:nvSpPr>
            <p:cNvPr id="45" name="Rectangle 44"/>
            <p:cNvSpPr/>
            <p:nvPr/>
          </p:nvSpPr>
          <p:spPr>
            <a:xfrm>
              <a:off x="10991834" y="26266071"/>
              <a:ext cx="8407576" cy="8915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5. Active Learning</a:t>
              </a:r>
            </a:p>
          </p:txBody>
        </p:sp>
        <p:sp>
          <p:nvSpPr>
            <p:cNvPr id="54" name="Text Box 192">
              <a:extLst>
                <a:ext uri="{FF2B5EF4-FFF2-40B4-BE49-F238E27FC236}">
                  <a16:creationId xmlns:a16="http://schemas.microsoft.com/office/drawing/2014/main" id="{08B2AA4B-D00E-474B-AF31-6905074583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91834" y="27157621"/>
              <a:ext cx="8407576" cy="619156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3600" b="1" dirty="0">
                  <a:latin typeface="Calibri" pitchFamily="34" charset="0"/>
                </a:rPr>
                <a:t>Failure driven improvement: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Actual failure points from source (not hypothetical)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Multi-window anomalies caught automatically alongside natural movement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Can adapt to new user variation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endParaRPr lang="en-US" sz="3000" dirty="0">
                <a:latin typeface="Calibri" pitchFamily="34" charset="0"/>
              </a:endParaRPr>
            </a:p>
            <a:p>
              <a:pPr eaLnBrk="1" hangingPunct="1"/>
              <a:r>
                <a:rPr lang="en-US" sz="3600" b="1" dirty="0">
                  <a:latin typeface="Calibri" pitchFamily="34" charset="0"/>
                </a:rPr>
                <a:t>Workflow: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Multiple window predictions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User reviews (labels / discards)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Diversity check + augmentation</a:t>
              </a:r>
            </a:p>
            <a:p>
              <a:pPr marL="457200" indent="-457200" eaLnBrk="1" hangingPunct="1">
                <a:buFont typeface="Arial" panose="020B0604020202020204" pitchFamily="34" charset="0"/>
                <a:buChar char="•"/>
              </a:pPr>
              <a:r>
                <a:rPr lang="en-US" sz="3000" dirty="0">
                  <a:latin typeface="Calibri" pitchFamily="34" charset="0"/>
                </a:rPr>
                <a:t>Incremental dataset update</a:t>
              </a:r>
            </a:p>
          </p:txBody>
        </p:sp>
      </p:grpSp>
      <p:pic>
        <p:nvPicPr>
          <p:cNvPr id="58" name="Picture 57">
            <a:extLst>
              <a:ext uri="{FF2B5EF4-FFF2-40B4-BE49-F238E27FC236}">
                <a16:creationId xmlns:a16="http://schemas.microsoft.com/office/drawing/2014/main" id="{8361FB72-A783-489B-84CC-92500A87E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9595" y="42882978"/>
            <a:ext cx="5839640" cy="171463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33C8DB8F-68C2-ACC1-44FC-D2A14DCDAF04}"/>
              </a:ext>
            </a:extLst>
          </p:cNvPr>
          <p:cNvGrpSpPr/>
          <p:nvPr/>
        </p:nvGrpSpPr>
        <p:grpSpPr>
          <a:xfrm>
            <a:off x="11036670" y="5926105"/>
            <a:ext cx="7550555" cy="3627704"/>
            <a:chOff x="2066076" y="13126956"/>
            <a:chExt cx="7550555" cy="3627704"/>
          </a:xfrm>
        </p:grpSpPr>
        <p:sp>
          <p:nvSpPr>
            <p:cNvPr id="52" name="Text Box 181"/>
            <p:cNvSpPr txBox="1">
              <a:spLocks noChangeArrowheads="1"/>
            </p:cNvSpPr>
            <p:nvPr/>
          </p:nvSpPr>
          <p:spPr bwMode="auto">
            <a:xfrm>
              <a:off x="3784177" y="16235953"/>
              <a:ext cx="4801392" cy="5187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86970" tIns="43485" rIns="86970" bIns="43485">
              <a:spAutoFit/>
            </a:bodyPr>
            <a:lstStyle>
              <a:lvl1pPr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2800" b="1" dirty="0">
                  <a:latin typeface="Calibri" pitchFamily="34" charset="0"/>
                </a:rPr>
                <a:t>Figure 1.</a:t>
              </a:r>
              <a:r>
                <a:rPr lang="en-US" sz="2800" dirty="0">
                  <a:latin typeface="Calibri" pitchFamily="34" charset="0"/>
                </a:rPr>
                <a:t>  End-to-end approach.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4D381C3-C6D3-5189-27B8-56CBE1A48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6076" y="13126956"/>
              <a:ext cx="7550555" cy="2970710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3E1FF49-79C7-F9C9-A2D7-82ECD78C8579}"/>
              </a:ext>
            </a:extLst>
          </p:cNvPr>
          <p:cNvGrpSpPr/>
          <p:nvPr/>
        </p:nvGrpSpPr>
        <p:grpSpPr>
          <a:xfrm>
            <a:off x="11036670" y="10401615"/>
            <a:ext cx="8873276" cy="5397284"/>
            <a:chOff x="19843601" y="5719724"/>
            <a:chExt cx="8873276" cy="539728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21112C3-C404-D710-CEDF-01C46037B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236214" y="5719724"/>
              <a:ext cx="7476459" cy="4690554"/>
            </a:xfrm>
            <a:prstGeom prst="rect">
              <a:avLst/>
            </a:prstGeom>
          </p:spPr>
        </p:pic>
        <p:sp>
          <p:nvSpPr>
            <p:cNvPr id="42" name="Text Box 181">
              <a:extLst>
                <a:ext uri="{FF2B5EF4-FFF2-40B4-BE49-F238E27FC236}">
                  <a16:creationId xmlns:a16="http://schemas.microsoft.com/office/drawing/2014/main" id="{1445CDEF-563F-5E6E-7A33-64C4339AED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43601" y="10598301"/>
              <a:ext cx="8873276" cy="5187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86970" tIns="43485" rIns="86970" bIns="43485">
              <a:spAutoFit/>
            </a:bodyPr>
            <a:lstStyle>
              <a:lvl1pPr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2800" b="1" dirty="0">
                  <a:latin typeface="Calibri" pitchFamily="34" charset="0"/>
                </a:rPr>
                <a:t>Figure 2.</a:t>
              </a:r>
              <a:r>
                <a:rPr lang="en-US" sz="2800" dirty="0">
                  <a:latin typeface="Calibri" pitchFamily="34" charset="0"/>
                </a:rPr>
                <a:t>  Dynamic hand gestures captured (taken from [2]).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3E4C7F7-4FE5-669A-550C-3DA29ECD427F}"/>
              </a:ext>
            </a:extLst>
          </p:cNvPr>
          <p:cNvGrpSpPr/>
          <p:nvPr/>
        </p:nvGrpSpPr>
        <p:grpSpPr>
          <a:xfrm>
            <a:off x="10546441" y="16643181"/>
            <a:ext cx="16322433" cy="3792727"/>
            <a:chOff x="11162513" y="15016936"/>
            <a:chExt cx="16322433" cy="3792727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735DE200-CB6C-70B5-1E70-4679E7DBCF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62513" y="15016936"/>
              <a:ext cx="16322433" cy="2967715"/>
            </a:xfrm>
            <a:prstGeom prst="rect">
              <a:avLst/>
            </a:prstGeom>
          </p:spPr>
        </p:pic>
        <p:sp>
          <p:nvSpPr>
            <p:cNvPr id="53" name="Text Box 181">
              <a:extLst>
                <a:ext uri="{FF2B5EF4-FFF2-40B4-BE49-F238E27FC236}">
                  <a16:creationId xmlns:a16="http://schemas.microsoft.com/office/drawing/2014/main" id="{1F5632E6-74A7-04AB-4958-02E8B80EB7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330161" y="18290956"/>
              <a:ext cx="6531738" cy="5187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86970" tIns="43485" rIns="86970" bIns="43485">
              <a:spAutoFit/>
            </a:bodyPr>
            <a:lstStyle>
              <a:lvl1pPr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2800" b="1" dirty="0">
                  <a:latin typeface="Calibri" pitchFamily="34" charset="0"/>
                </a:rPr>
                <a:t>Figure 3.</a:t>
              </a:r>
              <a:r>
                <a:rPr lang="en-US" sz="2800" dirty="0">
                  <a:latin typeface="Calibri" pitchFamily="34" charset="0"/>
                </a:rPr>
                <a:t>  Hierarchical architecture pipeline.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0F8B44E-F21F-5EAD-09F6-7763A110336C}"/>
              </a:ext>
            </a:extLst>
          </p:cNvPr>
          <p:cNvGrpSpPr/>
          <p:nvPr/>
        </p:nvGrpSpPr>
        <p:grpSpPr>
          <a:xfrm>
            <a:off x="10516278" y="22175882"/>
            <a:ext cx="11127719" cy="5864300"/>
            <a:chOff x="10043428" y="20572863"/>
            <a:chExt cx="11275366" cy="5562690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FAB2B6A-17B2-3FC7-304B-9429DAD3C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43428" y="20572863"/>
              <a:ext cx="11275366" cy="4827717"/>
            </a:xfrm>
            <a:prstGeom prst="rect">
              <a:avLst/>
            </a:prstGeom>
          </p:spPr>
        </p:pic>
        <p:sp>
          <p:nvSpPr>
            <p:cNvPr id="64" name="Text Box 181">
              <a:extLst>
                <a:ext uri="{FF2B5EF4-FFF2-40B4-BE49-F238E27FC236}">
                  <a16:creationId xmlns:a16="http://schemas.microsoft.com/office/drawing/2014/main" id="{0669B7D2-43AE-4366-592D-580E9D8499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258235" y="25616846"/>
              <a:ext cx="5302042" cy="5187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86970" tIns="43485" rIns="86970" bIns="43485">
              <a:spAutoFit/>
            </a:bodyPr>
            <a:lstStyle>
              <a:lvl1pPr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defTabSz="4389438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defTabSz="4389438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2800" b="1" dirty="0">
                  <a:latin typeface="Calibri" pitchFamily="34" charset="0"/>
                </a:rPr>
                <a:t>Figure 4.</a:t>
              </a:r>
              <a:r>
                <a:rPr lang="en-US" sz="2800" dirty="0">
                  <a:latin typeface="Calibri" pitchFamily="34" charset="0"/>
                </a:rPr>
                <a:t>  Active learning workflow.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23806C88-537D-445B-B0ED-01CAF56D2D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441" y="29527293"/>
            <a:ext cx="18864121" cy="6910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251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8159</TotalTime>
  <Words>562</Words>
  <Application>Microsoft Office PowerPoint</Application>
  <PresentationFormat>Custom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A0/A1</dc:title>
  <dc:creator>Jay Larson</dc:creator>
  <dc:description>Quality poster printing
www.genigraphics.com
1-800-790-4001</dc:description>
  <cp:lastModifiedBy>Victor Teslaru</cp:lastModifiedBy>
  <cp:revision>102</cp:revision>
  <cp:lastPrinted>2013-02-12T02:21:55Z</cp:lastPrinted>
  <dcterms:created xsi:type="dcterms:W3CDTF">2013-02-10T21:14:48Z</dcterms:created>
  <dcterms:modified xsi:type="dcterms:W3CDTF">2026-02-26T21:04:17Z</dcterms:modified>
</cp:coreProperties>
</file>