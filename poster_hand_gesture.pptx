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25" d="100"/>
          <a:sy n="25" d="100"/>
        </p:scale>
        <p:origin x="3018" y="-912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www.tensorflow.org/lite/performance/post_training_quantizat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265005" y="232710"/>
            <a:ext cx="22340284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Efficient and Customizable Dynamic Hand Gesture Recognition for Edge Deployment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570801" y="3120414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Victor </a:t>
            </a:r>
            <a:r>
              <a:rPr lang="en-US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Teslaru</a:t>
            </a:r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; Gabriel </a:t>
            </a:r>
            <a:r>
              <a:rPr lang="en-US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Pojoga</a:t>
            </a:r>
            <a:endParaRPr lang="en-US" sz="46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“Gheorghe </a:t>
            </a:r>
            <a:r>
              <a:rPr lang="en-US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Asachi</a:t>
            </a:r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” Technical University of Iasi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5462" y="38550735"/>
            <a:ext cx="7314260" cy="23961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3000" dirty="0"/>
              <a:t>Victor </a:t>
            </a:r>
            <a:r>
              <a:rPr lang="en-US" sz="3000" dirty="0" err="1"/>
              <a:t>Teslaru</a:t>
            </a:r>
            <a:endParaRPr lang="en-US" sz="3000" dirty="0"/>
          </a:p>
          <a:p>
            <a:r>
              <a:rPr lang="en-US" sz="3000" dirty="0"/>
              <a:t>Gabriel </a:t>
            </a:r>
            <a:r>
              <a:rPr lang="en-US" sz="3000" dirty="0" err="1"/>
              <a:t>Pojoga</a:t>
            </a:r>
            <a:endParaRPr lang="en-US" sz="3000" dirty="0"/>
          </a:p>
          <a:p>
            <a:r>
              <a:rPr lang="en-US" sz="3000" dirty="0"/>
              <a:t>“Gheorghe </a:t>
            </a:r>
            <a:r>
              <a:rPr lang="en-US" sz="3000" dirty="0" err="1"/>
              <a:t>Asachi</a:t>
            </a:r>
            <a:r>
              <a:rPr lang="en-US" sz="3000" dirty="0"/>
              <a:t>” Technical University of Iasi</a:t>
            </a:r>
          </a:p>
          <a:p>
            <a:r>
              <a:rPr lang="en-US" sz="3000" dirty="0"/>
              <a:t>Email:   victor.teslaru@student.tuiasi.ro</a:t>
            </a:r>
          </a:p>
          <a:p>
            <a:r>
              <a:rPr lang="en-US" sz="3000" dirty="0"/>
              <a:t>            gabriel.pojoga@student.tuiasi.ro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5462" y="37417869"/>
            <a:ext cx="2385859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57963" y="38336685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en-US" sz="2400" dirty="0"/>
              <a:t>H. </a:t>
            </a:r>
            <a:r>
              <a:rPr lang="en-US" sz="2400" dirty="0" err="1"/>
              <a:t>Sakoe</a:t>
            </a:r>
            <a:r>
              <a:rPr lang="en-US" sz="2400" dirty="0"/>
              <a:t> and S. Chiba, "Dynamic programming algorithm optimization for spoken word recognition," in IEEE Transactions on Acoustics, Speech, and Signal Processing, vol. 26, no. 1, pp. 43-49, February 1978, </a:t>
            </a:r>
            <a:r>
              <a:rPr lang="en-US" sz="2400" dirty="0" err="1"/>
              <a:t>doi</a:t>
            </a:r>
            <a:r>
              <a:rPr lang="en-US" sz="2400" dirty="0"/>
              <a:t>: 10.1109/TASSP.1978.1163055.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2400" dirty="0" err="1"/>
              <a:t>Tumuganti</a:t>
            </a:r>
            <a:r>
              <a:rPr lang="en-US" sz="2400" dirty="0"/>
              <a:t>, </a:t>
            </a:r>
            <a:r>
              <a:rPr lang="en-US" sz="2400" dirty="0" err="1"/>
              <a:t>Nagakarthik</a:t>
            </a:r>
            <a:r>
              <a:rPr lang="en-US" sz="2400" dirty="0"/>
              <a:t> &amp; Ahn, Eun &amp; Bae, Yun &amp; Choi, Jun. (2013). TCAM based pattern matching technique for hand gesture recognition. 368-369. 10.1109/ISOCC.2013.6864052. 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2400" dirty="0"/>
              <a:t>Zhang, F., </a:t>
            </a:r>
            <a:r>
              <a:rPr lang="en-US" sz="2400" dirty="0" err="1"/>
              <a:t>Bazarevsky</a:t>
            </a:r>
            <a:r>
              <a:rPr lang="en-US" sz="2400" dirty="0"/>
              <a:t>, V., </a:t>
            </a:r>
            <a:r>
              <a:rPr lang="en-US" sz="2400" dirty="0" err="1"/>
              <a:t>Vakunov</a:t>
            </a:r>
            <a:r>
              <a:rPr lang="en-US" sz="2400" dirty="0"/>
              <a:t>, A., </a:t>
            </a:r>
            <a:r>
              <a:rPr lang="en-US" sz="2400" dirty="0" err="1"/>
              <a:t>Tkachenka</a:t>
            </a:r>
            <a:r>
              <a:rPr lang="en-US" sz="2400" dirty="0"/>
              <a:t>, A., Sung, G., Chang, C. L., &amp; Grundmann, M. (2020). </a:t>
            </a:r>
            <a:r>
              <a:rPr lang="en-US" sz="2400" dirty="0" err="1"/>
              <a:t>Mediapipe</a:t>
            </a:r>
            <a:r>
              <a:rPr lang="en-US" sz="2400" dirty="0"/>
              <a:t> hands: On-device real-time hand tracking. </a:t>
            </a:r>
            <a:r>
              <a:rPr lang="en-US" sz="2400" dirty="0" err="1"/>
              <a:t>arXiv</a:t>
            </a:r>
            <a:r>
              <a:rPr lang="en-US" sz="2400" dirty="0"/>
              <a:t> preprint arXiv:2006.10214.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2400" dirty="0"/>
              <a:t>TensorFlow Team. "Post-training quantization," TensorFlow Lite Documentation, 2023. </a:t>
            </a:r>
            <a:r>
              <a:rPr lang="en-US" sz="2400" dirty="0">
                <a:hlinkClick r:id="rId2"/>
              </a:rPr>
              <a:t>https://www.tensorflow.org/lite/performance/post_training_quantization</a:t>
            </a:r>
            <a:endParaRPr lang="en-US" sz="2400" dirty="0"/>
          </a:p>
          <a:p>
            <a:pPr marL="434850" indent="-434850">
              <a:buFont typeface="+mj-lt"/>
              <a:buAutoNum type="arabicPeriod"/>
            </a:pPr>
            <a:endParaRPr lang="en-US" sz="2400" dirty="0"/>
          </a:p>
          <a:p>
            <a:pPr marL="434850" indent="-4348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5157964" y="37391727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55E9C25-1CF2-37B1-78D0-428B52416806}"/>
              </a:ext>
            </a:extLst>
          </p:cNvPr>
          <p:cNvGrpSpPr/>
          <p:nvPr/>
        </p:nvGrpSpPr>
        <p:grpSpPr>
          <a:xfrm>
            <a:off x="1635852" y="5847526"/>
            <a:ext cx="8407576" cy="7429133"/>
            <a:chOff x="1665205" y="6029900"/>
            <a:chExt cx="8407576" cy="7429133"/>
          </a:xfrm>
        </p:grpSpPr>
        <p:sp>
          <p:nvSpPr>
            <p:cNvPr id="10" name="Text Box 189"/>
            <p:cNvSpPr txBox="1">
              <a:spLocks noChangeArrowheads="1"/>
            </p:cNvSpPr>
            <p:nvPr/>
          </p:nvSpPr>
          <p:spPr bwMode="auto">
            <a:xfrm>
              <a:off x="1665205" y="6921447"/>
              <a:ext cx="8407576" cy="65375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Challenges: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Real-time performance on resource-constrained devices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Domain-specific vocabularies need custom datasets, no universal solution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Ambiguous user intent from natural movement hard to capture in the collection phase</a:t>
              </a:r>
            </a:p>
            <a:p>
              <a:pPr eaLnBrk="1" hangingPunct="1"/>
              <a:endParaRPr lang="en-US" sz="30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Our solution: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Hierarchical pipeline (palm → landmarks → gesture) 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Active learning, guides data collection to fix weaknesses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665205" y="6029900"/>
              <a:ext cx="8407576" cy="8915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1. Problem &amp; Scope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29EFCBA-98F0-F6BE-B48F-27851746D125}"/>
              </a:ext>
            </a:extLst>
          </p:cNvPr>
          <p:cNvGrpSpPr/>
          <p:nvPr/>
        </p:nvGrpSpPr>
        <p:grpSpPr>
          <a:xfrm>
            <a:off x="1587201" y="19873069"/>
            <a:ext cx="8407576" cy="5057976"/>
            <a:chOff x="1700284" y="26497685"/>
            <a:chExt cx="8908089" cy="5028473"/>
          </a:xfrm>
        </p:grpSpPr>
        <p:sp>
          <p:nvSpPr>
            <p:cNvPr id="13" name="Text Box 192"/>
            <p:cNvSpPr txBox="1">
              <a:spLocks noChangeArrowheads="1"/>
            </p:cNvSpPr>
            <p:nvPr/>
          </p:nvSpPr>
          <p:spPr bwMode="auto">
            <a:xfrm>
              <a:off x="1700284" y="27389229"/>
              <a:ext cx="8908089" cy="41369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Sliding window continuous inference: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Capture 10-20 frame sequences (user-paced)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Extract up to 7 overlapping inverse sliding windows, prioritizing recency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Classify each window independently using uncertainty thresholding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Filter out ambiguities through majority voting across valid predictions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700284" y="26497685"/>
              <a:ext cx="8908089" cy="8915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4. Deployment &amp; Inference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4B66C5F-D4B1-FBC5-79EF-CC77D170D037}"/>
              </a:ext>
            </a:extLst>
          </p:cNvPr>
          <p:cNvGrpSpPr/>
          <p:nvPr/>
        </p:nvGrpSpPr>
        <p:grpSpPr>
          <a:xfrm>
            <a:off x="1548137" y="25495004"/>
            <a:ext cx="8407576" cy="4876396"/>
            <a:chOff x="10991834" y="31531719"/>
            <a:chExt cx="8407576" cy="4876396"/>
          </a:xfrm>
        </p:grpSpPr>
        <p:sp>
          <p:nvSpPr>
            <p:cNvPr id="14" name="Text Box 193"/>
            <p:cNvSpPr txBox="1">
              <a:spLocks noChangeArrowheads="1"/>
            </p:cNvSpPr>
            <p:nvPr/>
          </p:nvSpPr>
          <p:spPr bwMode="auto">
            <a:xfrm>
              <a:off x="10991834" y="32363519"/>
              <a:ext cx="8407576" cy="40445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Benchmark: 73 gestures with various poses and sliding windows length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Baseline struggles with unknown class based only on thresholding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Active learning helps the model better define decision boundaries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Unknown gesture recall: 20% → 95% (4.75× improvement)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991834" y="31531719"/>
              <a:ext cx="8407576" cy="8915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6. Evaluation metrics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5BBAE78-0C75-5740-730E-BAB3C7FE2AB7}"/>
              </a:ext>
            </a:extLst>
          </p:cNvPr>
          <p:cNvGrpSpPr/>
          <p:nvPr/>
        </p:nvGrpSpPr>
        <p:grpSpPr>
          <a:xfrm>
            <a:off x="20272498" y="6404551"/>
            <a:ext cx="8407576" cy="7433102"/>
            <a:chOff x="10925564" y="5644318"/>
            <a:chExt cx="8407576" cy="7433102"/>
          </a:xfrm>
        </p:grpSpPr>
        <p:sp>
          <p:nvSpPr>
            <p:cNvPr id="33" name="Rectangle 32"/>
            <p:cNvSpPr/>
            <p:nvPr/>
          </p:nvSpPr>
          <p:spPr>
            <a:xfrm>
              <a:off x="10925564" y="5644318"/>
              <a:ext cx="8407576" cy="8915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2. Data Pipeline &amp; Dataset</a:t>
              </a:r>
            </a:p>
          </p:txBody>
        </p:sp>
        <p:sp>
          <p:nvSpPr>
            <p:cNvPr id="11" name="Text Box 190"/>
            <p:cNvSpPr txBox="1">
              <a:spLocks noChangeArrowheads="1"/>
            </p:cNvSpPr>
            <p:nvPr/>
          </p:nvSpPr>
          <p:spPr bwMode="auto">
            <a:xfrm>
              <a:off x="10925564" y="6539834"/>
              <a:ext cx="8407576" cy="65375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+mn-lt"/>
                </a:rPr>
                <a:t>Collection:</a:t>
              </a:r>
              <a:endParaRPr lang="en-US" sz="3000" dirty="0">
                <a:latin typeface="+mn-lt"/>
              </a:endParaRP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+mn-lt"/>
                </a:rPr>
                <a:t>Dynamic Time Warping [1] similarity to prevent redundancy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+mn-lt"/>
                </a:rPr>
                <a:t>Interactive pose rotation augmentation with user validation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+mn-lt"/>
                </a:rPr>
                <a:t>Linear interpolation for ≤2 missing frames, discard otherwise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endParaRPr lang="en-US" sz="3000" dirty="0">
                <a:latin typeface="+mn-lt"/>
              </a:endParaRPr>
            </a:p>
            <a:p>
              <a:pPr eaLnBrk="1" hangingPunct="1"/>
              <a:r>
                <a:rPr lang="en-US" sz="3600" b="1" dirty="0">
                  <a:latin typeface="+mn-lt"/>
                </a:rPr>
                <a:t>Dataset: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+mn-lt"/>
                </a:rPr>
                <a:t>8 gestures: Swipe (4), Zoom (2), Rotate (2)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+mn-lt"/>
                </a:rPr>
                <a:t>10-frame sequences, 21 3D landmarks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+mn-lt"/>
                </a:rPr>
                <a:t>Wrist and hand span normalized (position/scale-invariant)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EC84CB7-9C71-42D6-9AC8-3FBD31EE6A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68" y="1275735"/>
            <a:ext cx="3161342" cy="31613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2871D5-C843-4090-8B29-A0D34C37D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1085" y="1190100"/>
            <a:ext cx="2482796" cy="3332612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36BFE15A-E935-9F8E-C7B2-50467D10AA72}"/>
              </a:ext>
            </a:extLst>
          </p:cNvPr>
          <p:cNvGrpSpPr/>
          <p:nvPr/>
        </p:nvGrpSpPr>
        <p:grpSpPr>
          <a:xfrm>
            <a:off x="1635851" y="13851311"/>
            <a:ext cx="8407577" cy="5284503"/>
            <a:chOff x="1700284" y="14958883"/>
            <a:chExt cx="8407577" cy="5284503"/>
          </a:xfrm>
        </p:grpSpPr>
        <p:sp>
          <p:nvSpPr>
            <p:cNvPr id="15" name="Text Box 194"/>
            <p:cNvSpPr txBox="1">
              <a:spLocks noChangeArrowheads="1"/>
            </p:cNvSpPr>
            <p:nvPr/>
          </p:nvSpPr>
          <p:spPr bwMode="auto">
            <a:xfrm>
              <a:off x="1700284" y="16568122"/>
              <a:ext cx="8407576" cy="36752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Hierarchical architecture: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SSD-based palm detector [3], which reduces search space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21 key-points extraction for structured representation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NPU offloading for vision tasks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Quantized 1D CNN for temporal modelling [4]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E39D06-1522-457C-8E92-A2D123F7B247}"/>
                </a:ext>
              </a:extLst>
            </p:cNvPr>
            <p:cNvSpPr/>
            <p:nvPr/>
          </p:nvSpPr>
          <p:spPr>
            <a:xfrm>
              <a:off x="1700285" y="14958883"/>
              <a:ext cx="8407576" cy="160717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3. Model Design &amp; </a:t>
              </a:r>
            </a:p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Edge Optimization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143F0C-79A2-3CC6-0D27-4BD179F4DCD3}"/>
              </a:ext>
            </a:extLst>
          </p:cNvPr>
          <p:cNvGrpSpPr/>
          <p:nvPr/>
        </p:nvGrpSpPr>
        <p:grpSpPr>
          <a:xfrm>
            <a:off x="21713936" y="19873069"/>
            <a:ext cx="6966138" cy="7478958"/>
            <a:chOff x="10991834" y="26266074"/>
            <a:chExt cx="8407576" cy="7083114"/>
          </a:xfrm>
        </p:grpSpPr>
        <p:sp>
          <p:nvSpPr>
            <p:cNvPr id="45" name="Rectangle 44"/>
            <p:cNvSpPr/>
            <p:nvPr/>
          </p:nvSpPr>
          <p:spPr>
            <a:xfrm>
              <a:off x="10991834" y="26266074"/>
              <a:ext cx="8407576" cy="8915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5. Active Learning</a:t>
              </a:r>
            </a:p>
          </p:txBody>
        </p:sp>
        <p:sp>
          <p:nvSpPr>
            <p:cNvPr id="54" name="Text Box 192">
              <a:extLst>
                <a:ext uri="{FF2B5EF4-FFF2-40B4-BE49-F238E27FC236}">
                  <a16:creationId xmlns:a16="http://schemas.microsoft.com/office/drawing/2014/main" id="{08B2AA4B-D00E-474B-AF31-690507458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91834" y="27157621"/>
              <a:ext cx="8407576" cy="619156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Failure driven improvement: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Actual failure points from source (not hypothetical)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Multi-window anomalies caught automatically alongside natural movement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Can adapt to new user variation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endParaRPr lang="en-US" sz="30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Workflow: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Multiple window predictions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User reviews (labels / discards)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Diversity check + augmentation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Incremental dataset update</a:t>
              </a:r>
            </a:p>
          </p:txBody>
        </p: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8361FB72-A783-489B-84CC-92500A87E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27635" y="42507544"/>
            <a:ext cx="5839640" cy="171463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33C8DB8F-68C2-ACC1-44FC-D2A14DCDAF04}"/>
              </a:ext>
            </a:extLst>
          </p:cNvPr>
          <p:cNvGrpSpPr/>
          <p:nvPr/>
        </p:nvGrpSpPr>
        <p:grpSpPr>
          <a:xfrm>
            <a:off x="11039166" y="5485298"/>
            <a:ext cx="7550555" cy="3627704"/>
            <a:chOff x="2066076" y="13126956"/>
            <a:chExt cx="7550555" cy="3627704"/>
          </a:xfrm>
        </p:grpSpPr>
        <p:sp>
          <p:nvSpPr>
            <p:cNvPr id="52" name="Text Box 181"/>
            <p:cNvSpPr txBox="1">
              <a:spLocks noChangeArrowheads="1"/>
            </p:cNvSpPr>
            <p:nvPr/>
          </p:nvSpPr>
          <p:spPr bwMode="auto">
            <a:xfrm>
              <a:off x="3784177" y="16235953"/>
              <a:ext cx="4801392" cy="518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6970" tIns="43485" rIns="86970" bIns="43485">
              <a:spAutoFit/>
            </a:bodyPr>
            <a:lstStyle>
              <a:lvl1pPr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 b="1" dirty="0">
                  <a:latin typeface="Calibri" pitchFamily="34" charset="0"/>
                </a:rPr>
                <a:t>Figure 1.</a:t>
              </a:r>
              <a:r>
                <a:rPr lang="en-US" sz="2800" dirty="0">
                  <a:latin typeface="Calibri" pitchFamily="34" charset="0"/>
                </a:rPr>
                <a:t>  End-to-end approach.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D381C3-C6D3-5189-27B8-56CBE1A48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6076" y="13126956"/>
              <a:ext cx="7550555" cy="297071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E1FF49-79C7-F9C9-A2D7-82ECD78C8579}"/>
              </a:ext>
            </a:extLst>
          </p:cNvPr>
          <p:cNvGrpSpPr/>
          <p:nvPr/>
        </p:nvGrpSpPr>
        <p:grpSpPr>
          <a:xfrm>
            <a:off x="10998509" y="9790757"/>
            <a:ext cx="8873276" cy="5397284"/>
            <a:chOff x="19843601" y="5719724"/>
            <a:chExt cx="8873276" cy="539728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1112C3-C404-D710-CEDF-01C46037B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36214" y="5719724"/>
              <a:ext cx="7476459" cy="4690554"/>
            </a:xfrm>
            <a:prstGeom prst="rect">
              <a:avLst/>
            </a:prstGeom>
          </p:spPr>
        </p:pic>
        <p:sp>
          <p:nvSpPr>
            <p:cNvPr id="42" name="Text Box 181">
              <a:extLst>
                <a:ext uri="{FF2B5EF4-FFF2-40B4-BE49-F238E27FC236}">
                  <a16:creationId xmlns:a16="http://schemas.microsoft.com/office/drawing/2014/main" id="{1445CDEF-563F-5E6E-7A33-64C4339AE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3601" y="10598301"/>
              <a:ext cx="8873276" cy="518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6970" tIns="43485" rIns="86970" bIns="43485">
              <a:spAutoFit/>
            </a:bodyPr>
            <a:lstStyle>
              <a:lvl1pPr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 b="1" dirty="0">
                  <a:latin typeface="Calibri" pitchFamily="34" charset="0"/>
                </a:rPr>
                <a:t>Figure 2.</a:t>
              </a:r>
              <a:r>
                <a:rPr lang="en-US" sz="2800" dirty="0">
                  <a:latin typeface="Calibri" pitchFamily="34" charset="0"/>
                </a:rPr>
                <a:t>  Dynamic hand gestures captured (taken from [2]).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3E4C7F7-4FE5-669A-550C-3DA29ECD427F}"/>
              </a:ext>
            </a:extLst>
          </p:cNvPr>
          <p:cNvGrpSpPr/>
          <p:nvPr/>
        </p:nvGrpSpPr>
        <p:grpSpPr>
          <a:xfrm>
            <a:off x="10904761" y="15775096"/>
            <a:ext cx="16322433" cy="3746303"/>
            <a:chOff x="11388224" y="14980916"/>
            <a:chExt cx="16322433" cy="3746303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35DE200-CB6C-70B5-1E70-4679E7DBC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88224" y="14980916"/>
              <a:ext cx="16322433" cy="2967715"/>
            </a:xfrm>
            <a:prstGeom prst="rect">
              <a:avLst/>
            </a:prstGeom>
          </p:spPr>
        </p:pic>
        <p:sp>
          <p:nvSpPr>
            <p:cNvPr id="53" name="Text Box 181">
              <a:extLst>
                <a:ext uri="{FF2B5EF4-FFF2-40B4-BE49-F238E27FC236}">
                  <a16:creationId xmlns:a16="http://schemas.microsoft.com/office/drawing/2014/main" id="{1F5632E6-74A7-04AB-4958-02E8B80EB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83571" y="18208512"/>
              <a:ext cx="6531738" cy="518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6970" tIns="43485" rIns="86970" bIns="43485">
              <a:spAutoFit/>
            </a:bodyPr>
            <a:lstStyle>
              <a:lvl1pPr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 b="1" dirty="0">
                  <a:latin typeface="Calibri" pitchFamily="34" charset="0"/>
                </a:rPr>
                <a:t>Figure 3.</a:t>
              </a:r>
              <a:r>
                <a:rPr lang="en-US" sz="2800" dirty="0">
                  <a:latin typeface="Calibri" pitchFamily="34" charset="0"/>
                </a:rPr>
                <a:t>  Hierarchical architecture pipeline.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0F8B44E-F21F-5EAD-09F6-7763A110336C}"/>
              </a:ext>
            </a:extLst>
          </p:cNvPr>
          <p:cNvGrpSpPr/>
          <p:nvPr/>
        </p:nvGrpSpPr>
        <p:grpSpPr>
          <a:xfrm>
            <a:off x="10485436" y="20765911"/>
            <a:ext cx="10770407" cy="5892386"/>
            <a:chOff x="10043428" y="20572863"/>
            <a:chExt cx="11275366" cy="556269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FAB2B6A-17B2-3FC7-304B-9429DAD3C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3428" y="20572863"/>
              <a:ext cx="11275366" cy="4827717"/>
            </a:xfrm>
            <a:prstGeom prst="rect">
              <a:avLst/>
            </a:prstGeom>
          </p:spPr>
        </p:pic>
        <p:sp>
          <p:nvSpPr>
            <p:cNvPr id="64" name="Text Box 181">
              <a:extLst>
                <a:ext uri="{FF2B5EF4-FFF2-40B4-BE49-F238E27FC236}">
                  <a16:creationId xmlns:a16="http://schemas.microsoft.com/office/drawing/2014/main" id="{0669B7D2-43AE-4366-592D-580E9D849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8235" y="25616846"/>
              <a:ext cx="5302042" cy="518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6970" tIns="43485" rIns="86970" bIns="43485">
              <a:spAutoFit/>
            </a:bodyPr>
            <a:lstStyle>
              <a:lvl1pPr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 b="1" dirty="0">
                  <a:latin typeface="Calibri" pitchFamily="34" charset="0"/>
                </a:rPr>
                <a:t>Figure 4.</a:t>
              </a:r>
              <a:r>
                <a:rPr lang="en-US" sz="2800" dirty="0">
                  <a:latin typeface="Calibri" pitchFamily="34" charset="0"/>
                </a:rPr>
                <a:t>  Active learning workflow.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15379E4-2DBD-DDE1-0140-F4DA772CD35E}"/>
              </a:ext>
            </a:extLst>
          </p:cNvPr>
          <p:cNvGrpSpPr/>
          <p:nvPr/>
        </p:nvGrpSpPr>
        <p:grpSpPr>
          <a:xfrm>
            <a:off x="10104991" y="28483717"/>
            <a:ext cx="19216926" cy="7663498"/>
            <a:chOff x="10176955" y="27514094"/>
            <a:chExt cx="19216926" cy="766349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F46844C-F369-6D9D-25C1-B2A191DE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6955" y="27514094"/>
              <a:ext cx="19216926" cy="7206347"/>
            </a:xfrm>
            <a:prstGeom prst="rect">
              <a:avLst/>
            </a:prstGeom>
          </p:spPr>
        </p:pic>
        <p:sp>
          <p:nvSpPr>
            <p:cNvPr id="66" name="Text Box 181">
              <a:extLst>
                <a:ext uri="{FF2B5EF4-FFF2-40B4-BE49-F238E27FC236}">
                  <a16:creationId xmlns:a16="http://schemas.microsoft.com/office/drawing/2014/main" id="{A7357710-D120-728B-62E3-DE3900E2E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9008" y="34720441"/>
              <a:ext cx="7669678" cy="457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6970" tIns="43485" rIns="86970" bIns="43485">
              <a:spAutoFit/>
            </a:bodyPr>
            <a:lstStyle>
              <a:lvl1pPr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4389438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4389438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>
                  <a:latin typeface="Calibri" pitchFamily="34" charset="0"/>
                </a:rPr>
                <a:t>Figure 5.</a:t>
              </a:r>
              <a:r>
                <a:rPr lang="en-US" sz="2400" dirty="0">
                  <a:latin typeface="Calibri" pitchFamily="34" charset="0"/>
                </a:rPr>
                <a:t>  Model evaluation before and after active learning.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98771E2-E8F3-F851-1207-2814F1785506}"/>
              </a:ext>
            </a:extLst>
          </p:cNvPr>
          <p:cNvGrpSpPr/>
          <p:nvPr/>
        </p:nvGrpSpPr>
        <p:grpSpPr>
          <a:xfrm>
            <a:off x="1548137" y="30997028"/>
            <a:ext cx="8407576" cy="5795212"/>
            <a:chOff x="10991834" y="31531719"/>
            <a:chExt cx="8407576" cy="6538389"/>
          </a:xfrm>
        </p:grpSpPr>
        <p:sp>
          <p:nvSpPr>
            <p:cNvPr id="69" name="Text Box 193">
              <a:extLst>
                <a:ext uri="{FF2B5EF4-FFF2-40B4-BE49-F238E27FC236}">
                  <a16:creationId xmlns:a16="http://schemas.microsoft.com/office/drawing/2014/main" id="{B11E1913-2E54-6850-02FB-C37036BC6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91834" y="32363519"/>
              <a:ext cx="8407576" cy="57065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73940" tIns="173940" rIns="173940" bIns="17394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Privacy preserving design: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Only 3D landmarks collected — No identity exposure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100% local processing (edge/desktop)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User retains full data control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endParaRPr lang="en-US" sz="3000" dirty="0">
                <a:latin typeface="Calibri" pitchFamily="34" charset="0"/>
              </a:endParaRPr>
            </a:p>
            <a:p>
              <a:pPr eaLnBrk="1" hangingPunct="1"/>
              <a:r>
                <a:rPr lang="en-US" sz="3600" b="1" dirty="0">
                  <a:latin typeface="Calibri" pitchFamily="34" charset="0"/>
                </a:rPr>
                <a:t>Safety Features: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Explicit "Unknown" class for avoiding accidental triggers</a:t>
              </a:r>
            </a:p>
            <a:p>
              <a:pPr marL="457200" indent="-457200" eaLnBrk="1" hangingPunct="1">
                <a:buFont typeface="Arial" panose="020B0604020202020204" pitchFamily="34" charset="0"/>
                <a:buChar char="•"/>
              </a:pPr>
              <a:r>
                <a:rPr lang="en-US" sz="3000" dirty="0">
                  <a:latin typeface="Calibri" pitchFamily="34" charset="0"/>
                </a:rPr>
                <a:t>Multi-window ambiguity detection</a:t>
              </a:r>
            </a:p>
            <a:p>
              <a:pPr eaLnBrk="1" hangingPunct="1"/>
              <a:endParaRPr lang="en-US" sz="3600" b="1" dirty="0">
                <a:latin typeface="Calibri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0B35C8A-618D-3E30-E6CF-D554DFA9F93A}"/>
                </a:ext>
              </a:extLst>
            </p:cNvPr>
            <p:cNvSpPr/>
            <p:nvPr/>
          </p:nvSpPr>
          <p:spPr>
            <a:xfrm>
              <a:off x="10991834" y="31531719"/>
              <a:ext cx="8407576" cy="8915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970" tIns="43485" rIns="86970" bIns="43485" rtlCol="0" anchor="ctr"/>
            <a:lstStyle/>
            <a:p>
              <a:pPr algn="ctr"/>
              <a:r>
                <a:rPr lang="en-US" sz="5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7. Privacy &amp; Safety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7928</TotalTime>
  <Words>619</Words>
  <Application>Microsoft Office PowerPoint</Application>
  <PresentationFormat>Custom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Victor Teslaru</cp:lastModifiedBy>
  <cp:revision>95</cp:revision>
  <cp:lastPrinted>2013-02-12T02:21:55Z</cp:lastPrinted>
  <dcterms:created xsi:type="dcterms:W3CDTF">2013-02-10T21:14:48Z</dcterms:created>
  <dcterms:modified xsi:type="dcterms:W3CDTF">2026-01-08T13:23:46Z</dcterms:modified>
</cp:coreProperties>
</file>